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8522f468214c1d" /><Relationship Type="http://schemas.openxmlformats.org/officeDocument/2006/relationships/extended-properties" Target="/docProps/app.xml" Id="R94e053cdaa3049bc" /><Relationship Type="http://schemas.openxmlformats.org/officeDocument/2006/relationships/officeDocument" Target="/ppt/presentation.xml" Id="Ra459bcbe3d764f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5d55d543748ce"/>
  </p:sldMasterIdLst>
  <p:notesMasterIdLst>
    <p:notesMasterId xmlns:r="http://schemas.openxmlformats.org/officeDocument/2006/relationships" r:id="Rd33bc9e158f54036"/>
  </p:notesMasterIdLst>
  <p:sldIdLst>
    <p:sldId xmlns:r="http://schemas.openxmlformats.org/officeDocument/2006/relationships" id="256" r:id="Re7b6607dfd2744e4"/>
    <p:sldId xmlns:r="http://schemas.openxmlformats.org/officeDocument/2006/relationships" id="257" r:id="R936c0f251c554460"/>
    <p:sldId xmlns:r="http://schemas.openxmlformats.org/officeDocument/2006/relationships" id="258" r:id="Rf417048587754911"/>
    <p:sldId xmlns:r="http://schemas.openxmlformats.org/officeDocument/2006/relationships" id="259" r:id="R195fb5d508e64b8a"/>
    <p:sldId xmlns:r="http://schemas.openxmlformats.org/officeDocument/2006/relationships" id="260" r:id="Rd2909099cc344ac0"/>
    <p:sldId xmlns:r="http://schemas.openxmlformats.org/officeDocument/2006/relationships" id="261" r:id="R020f8a52d37e4f86"/>
    <p:sldId xmlns:r="http://schemas.openxmlformats.org/officeDocument/2006/relationships" id="262" r:id="R01f71e75e3074c1f"/>
    <p:sldId xmlns:r="http://schemas.openxmlformats.org/officeDocument/2006/relationships" id="263" r:id="R162689c0f5f84ec9"/>
    <p:sldId xmlns:r="http://schemas.openxmlformats.org/officeDocument/2006/relationships" id="264" r:id="R2e70a17afd3d4896"/>
    <p:sldId xmlns:r="http://schemas.openxmlformats.org/officeDocument/2006/relationships" id="265" r:id="R0da04cd93d284dce"/>
    <p:sldId xmlns:r="http://schemas.openxmlformats.org/officeDocument/2006/relationships" id="266" r:id="Rd198c8999ca34495"/>
    <p:sldId xmlns:r="http://schemas.openxmlformats.org/officeDocument/2006/relationships" id="267" r:id="R487fef8f91474f95"/>
    <p:sldId xmlns:r="http://schemas.openxmlformats.org/officeDocument/2006/relationships" id="268" r:id="R9712da24dbc44251"/>
    <p:sldId xmlns:r="http://schemas.openxmlformats.org/officeDocument/2006/relationships" id="269" r:id="R1cb064d3251c4b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c4ea05621c4fcf" /><Relationship Type="http://schemas.openxmlformats.org/officeDocument/2006/relationships/slideMaster" Target="/ppt/slideMasters/slideMaster1.xml" Id="Rf6b5d55d543748ce" /><Relationship Type="http://schemas.openxmlformats.org/officeDocument/2006/relationships/notesMaster" Target="/ppt/notesMasters/notesMaster1.xml" Id="Rd33bc9e158f54036" /><Relationship Type="http://schemas.openxmlformats.org/officeDocument/2006/relationships/presProps" Target="/ppt/presProps.xml" Id="R5eb11329f4cb4ebb" /><Relationship Type="http://schemas.openxmlformats.org/officeDocument/2006/relationships/tableStyles" Target="/ppt/tableStyles.xml" Id="R499858314c7a4595" /><Relationship Type="http://schemas.openxmlformats.org/officeDocument/2006/relationships/slide" Target="/ppt/slides/slide1.xml" Id="Re7b6607dfd2744e4" /><Relationship Type="http://schemas.openxmlformats.org/officeDocument/2006/relationships/slide" Target="/ppt/slides/slide2.xml" Id="R936c0f251c554460" /><Relationship Type="http://schemas.openxmlformats.org/officeDocument/2006/relationships/slide" Target="/ppt/slides/slide3.xml" Id="Rf417048587754911" /><Relationship Type="http://schemas.openxmlformats.org/officeDocument/2006/relationships/slide" Target="/ppt/slides/slide4.xml" Id="R195fb5d508e64b8a" /><Relationship Type="http://schemas.openxmlformats.org/officeDocument/2006/relationships/slide" Target="/ppt/slides/slide5.xml" Id="Rd2909099cc344ac0" /><Relationship Type="http://schemas.openxmlformats.org/officeDocument/2006/relationships/slide" Target="/ppt/slides/slide6.xml" Id="R020f8a52d37e4f86" /><Relationship Type="http://schemas.openxmlformats.org/officeDocument/2006/relationships/slide" Target="/ppt/slides/slide7.xml" Id="R01f71e75e3074c1f" /><Relationship Type="http://schemas.openxmlformats.org/officeDocument/2006/relationships/slide" Target="/ppt/slides/slide8.xml" Id="R162689c0f5f84ec9" /><Relationship Type="http://schemas.openxmlformats.org/officeDocument/2006/relationships/slide" Target="/ppt/slides/slide9.xml" Id="R2e70a17afd3d4896" /><Relationship Type="http://schemas.openxmlformats.org/officeDocument/2006/relationships/slide" Target="/ppt/slides/slide10.xml" Id="R0da04cd93d284dce" /><Relationship Type="http://schemas.openxmlformats.org/officeDocument/2006/relationships/slide" Target="/ppt/slides/slide11.xml" Id="Rd198c8999ca34495" /><Relationship Type="http://schemas.openxmlformats.org/officeDocument/2006/relationships/slide" Target="/ppt/slides/slide12.xml" Id="R487fef8f91474f95" /><Relationship Type="http://schemas.openxmlformats.org/officeDocument/2006/relationships/slide" Target="/ppt/slides/slide13.xml" Id="R9712da24dbc44251" /><Relationship Type="http://schemas.openxmlformats.org/officeDocument/2006/relationships/slide" Target="/ppt/slides/slide14.xml" Id="R1cb064d3251c4b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634adaf8a949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d9fec874a2414e" /><Relationship Type="http://schemas.openxmlformats.org/officeDocument/2006/relationships/notesMaster" Target="/ppt/notesMasters/notesMaster1.xml" Id="R088517d47d2843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cf167180bd4282" /><Relationship Type="http://schemas.openxmlformats.org/officeDocument/2006/relationships/notesMaster" Target="/ppt/notesMasters/notesMaster1.xml" Id="R88040d2671bd41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e8db229fff4950" /><Relationship Type="http://schemas.openxmlformats.org/officeDocument/2006/relationships/notesMaster" Target="/ppt/notesMasters/notesMaster1.xml" Id="R5546115f716645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a5c0dd11ab4b1e" /><Relationship Type="http://schemas.openxmlformats.org/officeDocument/2006/relationships/notesMaster" Target="/ppt/notesMasters/notesMaster1.xml" Id="R295938db05c842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2c61b99cb940d8" /><Relationship Type="http://schemas.openxmlformats.org/officeDocument/2006/relationships/notesMaster" Target="/ppt/notesMasters/notesMaster1.xml" Id="R41e6de1c88d748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36aa71712044a2" /><Relationship Type="http://schemas.openxmlformats.org/officeDocument/2006/relationships/notesMaster" Target="/ppt/notesMasters/notesMaster1.xml" Id="R11c066f95db943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27dcfa046d43a3" /><Relationship Type="http://schemas.openxmlformats.org/officeDocument/2006/relationships/notesMaster" Target="/ppt/notesMasters/notesMaster1.xml" Id="Ra7e1d1fd08ef4a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d91be9ce77401b" /><Relationship Type="http://schemas.openxmlformats.org/officeDocument/2006/relationships/notesMaster" Target="/ppt/notesMasters/notesMaster1.xml" Id="R67493dbbe10c41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44c0a6d9494595" /><Relationship Type="http://schemas.openxmlformats.org/officeDocument/2006/relationships/notesMaster" Target="/ppt/notesMasters/notesMaster1.xml" Id="R223bc7b853b148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28562a38164f19" /><Relationship Type="http://schemas.openxmlformats.org/officeDocument/2006/relationships/notesMaster" Target="/ppt/notesMasters/notesMaster1.xml" Id="R5542f5a3bf024b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85593354494d38" /><Relationship Type="http://schemas.openxmlformats.org/officeDocument/2006/relationships/notesMaster" Target="/ppt/notesMasters/notesMaster1.xml" Id="R49c42f9d27834e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c121a86c9445d0" /><Relationship Type="http://schemas.openxmlformats.org/officeDocument/2006/relationships/notesMaster" Target="/ppt/notesMasters/notesMaster1.xml" Id="R608f2a46b9364b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cb8b540a204b91" /><Relationship Type="http://schemas.openxmlformats.org/officeDocument/2006/relationships/notesMaster" Target="/ppt/notesMasters/notesMaster1.xml" Id="R8135be27eb8a41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a929a9c0fd40ab" /><Relationship Type="http://schemas.openxmlformats.org/officeDocument/2006/relationships/notesMaster" Target="/ppt/notesMasters/notesMaster1.xml" Id="R77a8fb06e6774a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依据：docs/技术设计文档.md、docs/课程报告.md。成员真实资料暂未提供，保留空白。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依据：docs/技术设计文档.md 第6节验收映射。自动测试通过不等于科研答案全部正确。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来源：reports/5_5_4 项目交付/系统架构图.png。TCP入口仅转发字节，业务与Ollama位于内部网络，Chroma和SQLite保持本地文件。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历史Mac开发实验：reports/5_1_2 文本分块策略/五组分块检索对比_20261004.json；300条，900次独立指标复算。不是Windows耗时。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本轮正式Windows：/Users/rean/github/RAG+Agent/reports/5_5_2 系统性能评估/Windows正式性能评测_20261007/retrieval.json。60题×5组，失败与中文查询英文原文均保留；用户要求暂不优化跨语言排名。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I01后镜像页面证据：reports/5_5_4 项目交付/Windows容器离线验收_20261007/I01后镜像页面检索.png。2026-10-07，独立ViT索引167块。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来源：reports/5_5_4 项目交付/工具与轨迹_标注.png；历史真实界面，不是本轮Windows截图。展示公开计划、参数、结果、耗时及终止状态，不要求私有推理过程。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本轮Windows：agent.json默认规则与关闭规则各60题；routing.json 72题×两策略=144请求，固定RAG确实每题检索；预热单列，原始HTTP用量独立复算。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本轮Windows：parallel.json，两种工具组合各3对，共12请求。独立核验第一次实际工具数量、参数独立性和execution_mode；失败快速返回不能解释为有效加速。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依据：WindowsSSH集中复测_20261007/WindowsSSH集中复测报告.md。真实TXT RAG exact/semantic命中、语料失效、会话隔离；历史2000Token窗口与阶段性摘要已验证。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本轮：reports/5_4_4 端到端联调与测试/Windows故障与离线验收_20261007/faults-5.json、recovery.json。I01后780项两端回归另存；faults-4真实Qwen误规划批量替代的失败保留。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本轮Windows助手逐题初评.json，120/120条；用户审核0/120。助手参与参考答案构建，初评不属于独立盲评；历史180条另存。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本轮容器完整证据：Windows容器离线验收_20261007/container-7.json、environment-3.json。镜像99db29e，Python3.10.10，SQLite3.46.1，Chroma0.5.23；CPU。应用与Ollama TCP外网连接被拒绝，浏览器经固定TCP入口；不等同物理拔网线。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依据：docs/课程报告.md、技术设计文档.md、用户使用手册.md、最终交付核验。成员资料未提供；用户最终审核未完成；跨语言排名依用户要求暂缓。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42dd1d0c04c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87bea2e1f945e2" /><Relationship Type="http://schemas.openxmlformats.org/officeDocument/2006/relationships/slideLayout" Target="/ppt/slideLayouts/slideLayout1.xml" Id="R0d96088d62344d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96088d62344d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3f62a7e8c436c" /><Relationship Type="http://schemas.openxmlformats.org/officeDocument/2006/relationships/notesSlide" Target="/ppt/notesSlides/notesSlide1.xml" Id="Rd3c49e28f08848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4c795403048ba" /><Relationship Type="http://schemas.openxmlformats.org/officeDocument/2006/relationships/notesSlide" Target="/ppt/notesSlides/notesSlide2.xml" Id="R760513528a294e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9d5e6c967475a" /><Relationship Type="http://schemas.openxmlformats.org/officeDocument/2006/relationships/image" Target="/ppt/media/image.png" Id="Re2d27560a1ec4869" /><Relationship Type="http://schemas.openxmlformats.org/officeDocument/2006/relationships/notesSlide" Target="/ppt/notesSlides/notesSlide3.xml" Id="Racd07aa9e2e740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9aee321fe4a53" /><Relationship Type="http://schemas.openxmlformats.org/officeDocument/2006/relationships/chart" Target="/ppt/slides/charts/chart1.xml" Id="Ra8c9d2c3bdb7480a" /><Relationship Type="http://schemas.openxmlformats.org/officeDocument/2006/relationships/chart" Target="/ppt/slides/charts/chart2.xml" Id="R12afd18821bb4406" /><Relationship Type="http://schemas.openxmlformats.org/officeDocument/2006/relationships/notesSlide" Target="/ppt/notesSlides/notesSlide4.xml" Id="Rad0b1422713b48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6c0b03367419d" /><Relationship Type="http://schemas.openxmlformats.org/officeDocument/2006/relationships/chart" Target="/ppt/slides/charts/chart3.xml" Id="R333848e5d2b94276" /><Relationship Type="http://schemas.openxmlformats.org/officeDocument/2006/relationships/chart" Target="/ppt/slides/charts/chart4.xml" Id="Re243b5fb13c44b9c" /><Relationship Type="http://schemas.openxmlformats.org/officeDocument/2006/relationships/notesSlide" Target="/ppt/notesSlides/notesSlide5.xml" Id="Rc2ecf73d8ed04e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25a95e72b4977" /><Relationship Type="http://schemas.openxmlformats.org/officeDocument/2006/relationships/image" Target="/ppt/media/image.jpeg" Id="R91570734151740de" /><Relationship Type="http://schemas.openxmlformats.org/officeDocument/2006/relationships/notesSlide" Target="/ppt/notesSlides/notesSlide6.xml" Id="Rfdc279b69a1e40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028f841484feb" /><Relationship Type="http://schemas.openxmlformats.org/officeDocument/2006/relationships/image" Target="/ppt/media/image2.png" Id="Rddfbad117abe42e3" /><Relationship Type="http://schemas.openxmlformats.org/officeDocument/2006/relationships/notesSlide" Target="/ppt/notesSlides/notesSlide7.xml" Id="R0189ac73849147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666f465074f02" /><Relationship Type="http://schemas.openxmlformats.org/officeDocument/2006/relationships/chart" Target="/ppt/slides/charts/chart5.xml" Id="Rdf40b422f89b4328" /><Relationship Type="http://schemas.openxmlformats.org/officeDocument/2006/relationships/chart" Target="/ppt/slides/charts/chart6.xml" Id="R681440fef30e4d32" /><Relationship Type="http://schemas.openxmlformats.org/officeDocument/2006/relationships/notesSlide" Target="/ppt/notesSlides/notesSlide8.xml" Id="R2e5ae992158c4e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81d8958184cc8" /><Relationship Type="http://schemas.openxmlformats.org/officeDocument/2006/relationships/chart" Target="/ppt/slides/charts/chart7.xml" Id="R501bdfbead074dde" /><Relationship Type="http://schemas.openxmlformats.org/officeDocument/2006/relationships/chart" Target="/ppt/slides/charts/chart8.xml" Id="Raabad0d82f794d95" /><Relationship Type="http://schemas.openxmlformats.org/officeDocument/2006/relationships/notesSlide" Target="/ppt/notesSlides/notesSlide9.xml" Id="R4247521f82a043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d542455474e2f" /><Relationship Type="http://schemas.openxmlformats.org/officeDocument/2006/relationships/notesSlide" Target="/ppt/notesSlides/notesSlide10.xml" Id="Rc1c1bc722ff94e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6a236f5ae4492" /><Relationship Type="http://schemas.openxmlformats.org/officeDocument/2006/relationships/notesSlide" Target="/ppt/notesSlides/notesSlide11.xml" Id="R513ff4d4a9e248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b657c50f74a51" /><Relationship Type="http://schemas.openxmlformats.org/officeDocument/2006/relationships/chart" Target="/ppt/slides/charts/chart9.xml" Id="R1807a3b378f94814" /><Relationship Type="http://schemas.openxmlformats.org/officeDocument/2006/relationships/chart" Target="/ppt/slides/charts/chart10.xml" Id="Rce514901889343c7" /><Relationship Type="http://schemas.openxmlformats.org/officeDocument/2006/relationships/notesSlide" Target="/ppt/notesSlides/notesSlide12.xml" Id="Rf94a7a588e9440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dad1e69674cad" /><Relationship Type="http://schemas.openxmlformats.org/officeDocument/2006/relationships/notesSlide" Target="/ppt/notesSlides/notesSlide13.xml" Id="R9ef966712b0d42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b06a7c76545a9" /><Relationship Type="http://schemas.openxmlformats.org/officeDocument/2006/relationships/notesSlide" Target="/ppt/notesSlides/notesSlide14.xml" Id="Raee9c225e534401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Hit@5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735"/>
              </a:solidFill>
              <a:latin typeface="Songti SC"/>
              <a:ea typeface="Songti SC"/>
              <a:cs typeface="Songti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Hit@5</c:v>
          </c:tx>
          <c:spPr>
            <a:solidFill xmlns:a="http://schemas.openxmlformats.org/drawingml/2006/main">
              <a:srgbClr val="39776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55.0%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61.7%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61.7%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66.7%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60.0%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Data'!$A$2:$A$6</c:f>
              <c:strCache>
                <c:ptCount val="5"/>
                <c:pt idx="0">
                  <c:v>固定256</c:v>
                </c:pt>
                <c:pt idx="1">
                  <c:v>固定512</c:v>
                </c:pt>
                <c:pt idx="2">
                  <c:v>固定1024</c:v>
                </c:pt>
                <c:pt idx="3">
                  <c:v>递归512</c:v>
                </c:pt>
                <c:pt idx="4">
                  <c:v>句段512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0.55</c:v>
                </c:pt>
                <c:pt idx="1">
                  <c:v>0.616667</c:v>
                </c:pt>
                <c:pt idx="2">
                  <c:v>0.616667</c:v>
                </c:pt>
                <c:pt idx="3">
                  <c:v>0.666667</c:v>
                </c:pt>
                <c:pt idx="4">
                  <c:v>0.6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735"/>
                  </a:solidFill>
                  <a:latin typeface="Songti SC"/>
                  <a:ea typeface="Songti SC"/>
                  <a:cs typeface="Song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页级Recall@5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735"/>
              </a:solidFill>
              <a:latin typeface="Songti SC"/>
              <a:ea typeface="Songti SC"/>
              <a:cs typeface="Songti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页级Recall@5</c:v>
          </c:tx>
          <c:spPr>
            <a:solidFill xmlns:a="http://schemas.openxmlformats.org/drawingml/2006/main">
              <a:srgbClr val="39776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37.8%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41.6%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41.5%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43.0%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38.6%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Data'!$A$2:$A$6</c:f>
              <c:strCache>
                <c:ptCount val="5"/>
                <c:pt idx="0">
                  <c:v>固定256</c:v>
                </c:pt>
                <c:pt idx="1">
                  <c:v>固定512</c:v>
                </c:pt>
                <c:pt idx="2">
                  <c:v>固定1024</c:v>
                </c:pt>
                <c:pt idx="3">
                  <c:v>递归512</c:v>
                </c:pt>
                <c:pt idx="4">
                  <c:v>句段512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0.378333</c:v>
                </c:pt>
                <c:pt idx="1">
                  <c:v>0.415833</c:v>
                </c:pt>
                <c:pt idx="2">
                  <c:v>0.415</c:v>
                </c:pt>
                <c:pt idx="3">
                  <c:v>0.429722</c:v>
                </c:pt>
                <c:pt idx="4">
                  <c:v>0.385833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735"/>
                  </a:solidFill>
                  <a:latin typeface="Songti SC"/>
                  <a:ea typeface="Songti SC"/>
                  <a:cs typeface="Song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Hit@5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735"/>
              </a:solidFill>
              <a:latin typeface="Songti SC"/>
              <a:ea typeface="Songti SC"/>
              <a:cs typeface="Songti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Hit@5</c:v>
          </c:tx>
          <c:spPr>
            <a:solidFill xmlns:a="http://schemas.openxmlformats.org/drawingml/2006/main">
              <a:srgbClr val="39776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40.0%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40.0%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66.7%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55.0%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61.7%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Data'!$A$2:$A$6</c:f>
              <c:strCache>
                <c:ptCount val="5"/>
                <c:pt idx="0">
                  <c:v>向量</c:v>
                </c:pt>
                <c:pt idx="1">
                  <c:v>混合</c:v>
                </c:pt>
                <c:pt idx="2">
                  <c:v>重排20</c:v>
                </c:pt>
                <c:pt idx="3">
                  <c:v>重排10</c:v>
                </c:pt>
                <c:pt idx="4">
                  <c:v>重排40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0.4</c:v>
                </c:pt>
                <c:pt idx="1">
                  <c:v>0.4</c:v>
                </c:pt>
                <c:pt idx="2">
                  <c:v>0.666667</c:v>
                </c:pt>
                <c:pt idx="3">
                  <c:v>0.55</c:v>
                </c:pt>
                <c:pt idx="4">
                  <c:v>0.616667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735"/>
                  </a:solidFill>
                  <a:latin typeface="Songti SC"/>
                  <a:ea typeface="Songti SC"/>
                  <a:cs typeface="Song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平均检索耗时 / 毫秒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735"/>
              </a:solidFill>
              <a:latin typeface="Songti SC"/>
              <a:ea typeface="Songti SC"/>
              <a:cs typeface="Songti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平均检索耗时 / 毫秒</c:v>
          </c:tx>
          <c:spPr>
            <a:solidFill xmlns:a="http://schemas.openxmlformats.org/drawingml/2006/main">
              <a:srgbClr val="39776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89.64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175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6598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3309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13839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Data'!$A$2:$A$6</c:f>
              <c:strCache>
                <c:ptCount val="5"/>
                <c:pt idx="0">
                  <c:v>向量</c:v>
                </c:pt>
                <c:pt idx="1">
                  <c:v>混合</c:v>
                </c:pt>
                <c:pt idx="2">
                  <c:v>重排20</c:v>
                </c:pt>
                <c:pt idx="3">
                  <c:v>重排10</c:v>
                </c:pt>
                <c:pt idx="4">
                  <c:v>重排40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89.641675</c:v>
                </c:pt>
                <c:pt idx="1">
                  <c:v>175.048558</c:v>
                </c:pt>
                <c:pt idx="2">
                  <c:v>6598.499533</c:v>
                </c:pt>
                <c:pt idx="3">
                  <c:v>3309.149207</c:v>
                </c:pt>
                <c:pt idx="4">
                  <c:v>13839.087193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735"/>
                  </a:solidFill>
                  <a:latin typeface="Songti SC"/>
                  <a:ea typeface="Songti SC"/>
                  <a:cs typeface="Song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工具选择准确率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735"/>
              </a:solidFill>
              <a:latin typeface="Songti SC"/>
              <a:ea typeface="Songti SC"/>
              <a:cs typeface="Songti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工具选择准确率</c:v>
          </c:tx>
          <c:spPr>
            <a:solidFill xmlns:a="http://schemas.openxmlformats.org/drawingml/2006/main">
              <a:srgbClr val="39776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93.3%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93.3%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默认规则</c:v>
                </c:pt>
                <c:pt idx="1">
                  <c:v>关闭规则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0.933333</c:v>
                </c:pt>
                <c:pt idx="1">
                  <c:v>0.933333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735"/>
                  </a:solidFill>
                  <a:latin typeface="Songti SC"/>
                  <a:ea typeface="Songti SC"/>
                  <a:cs typeface="Song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平均实际Token / 请求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735"/>
              </a:solidFill>
              <a:latin typeface="Songti SC"/>
              <a:ea typeface="Songti SC"/>
              <a:cs typeface="Songti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平均实际Token / 请求</c:v>
          </c:tx>
          <c:spPr>
            <a:solidFill xmlns:a="http://schemas.openxmlformats.org/drawingml/2006/main">
              <a:srgbClr val="39776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9162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1451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Agent</c:v>
                </c:pt>
                <c:pt idx="1">
                  <c:v>固定RAG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9161.722222</c:v>
                </c:pt>
                <c:pt idx="1">
                  <c:v>1450.680556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735"/>
                  </a:solidFill>
                  <a:latin typeface="Songti SC"/>
                  <a:ea typeface="Songti SC"/>
                  <a:cs typeface="Song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时间与关键词 / 秒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735"/>
              </a:solidFill>
              <a:latin typeface="Songti SC"/>
              <a:ea typeface="Songti SC"/>
              <a:cs typeface="Songti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时间与关键词 / 秒</c:v>
          </c:tx>
          <c:spPr>
            <a:solidFill xmlns:a="http://schemas.openxmlformats.org/drawingml/2006/main">
              <a:srgbClr val="39776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14.29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14.65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串行</c:v>
                </c:pt>
                <c:pt idx="1">
                  <c:v>并行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14.288475</c:v>
                </c:pt>
                <c:pt idx="1">
                  <c:v>14.645952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735"/>
                  </a:solidFill>
                  <a:latin typeface="Songti SC"/>
                  <a:ea typeface="Songti SC"/>
                  <a:cs typeface="Song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两个知识库问题 / 秒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735"/>
              </a:solidFill>
              <a:latin typeface="Songti SC"/>
              <a:ea typeface="Songti SC"/>
              <a:cs typeface="Songti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两个知识库问题 / 秒</c:v>
          </c:tx>
          <c:spPr>
            <a:solidFill xmlns:a="http://schemas.openxmlformats.org/drawingml/2006/main">
              <a:srgbClr val="39776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32.71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26.57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串行</c:v>
                </c:pt>
                <c:pt idx="1">
                  <c:v>并行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32.707624</c:v>
                </c:pt>
                <c:pt idx="1">
                  <c:v>26.570346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735"/>
                  </a:solidFill>
                  <a:latin typeface="Songti SC"/>
                  <a:ea typeface="Songti SC"/>
                  <a:cs typeface="Song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默认规则 / 4分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735"/>
              </a:solidFill>
              <a:latin typeface="Songti SC"/>
              <a:ea typeface="Songti SC"/>
              <a:cs typeface="Songti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默认规则 / 4分</c:v>
          </c:tx>
          <c:spPr>
            <a:solidFill xmlns:a="http://schemas.openxmlformats.org/drawingml/2006/main">
              <a:srgbClr val="39776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2.65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1.98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2.80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Data'!$A$2:$A$4</c:f>
              <c:strCache>
                <c:ptCount val="3"/>
                <c:pt idx="0">
                  <c:v>正确性</c:v>
                </c:pt>
                <c:pt idx="1">
                  <c:v>完整性</c:v>
                </c:pt>
                <c:pt idx="2">
                  <c:v>引用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2.65</c:v>
                </c:pt>
                <c:pt idx="1">
                  <c:v>1.983333</c:v>
                </c:pt>
                <c:pt idx="2">
                  <c:v>2.8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735"/>
                  </a:solidFill>
                  <a:latin typeface="Songti SC"/>
                  <a:ea typeface="Songti SC"/>
                  <a:cs typeface="Song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50112"/>
        <c:crossBetween val="between"/>
        <c:majorUnit val="1"/>
      </c:valAx>
    </c:plotArea>
    <c:plotVisOnly val="1"/>
  </c:chart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关闭规则 / 4分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735"/>
              </a:solidFill>
              <a:latin typeface="Songti SC"/>
              <a:ea typeface="Songti SC"/>
              <a:cs typeface="Songti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关闭规则 / 4分</c:v>
          </c:tx>
          <c:spPr>
            <a:solidFill xmlns:a="http://schemas.openxmlformats.org/drawingml/2006/main">
              <a:srgbClr val="39776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2.60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1.95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2735"/>
                        </a:solidFill>
                        <a:latin typeface="Songti SC"/>
                        <a:ea typeface="Songti SC"/>
                        <a:cs typeface="Songti SC"/>
                      </a:rPr>
                      <a:t>2.62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2735"/>
                      </a:solidFill>
                      <a:latin typeface="Songti SC"/>
                      <a:ea typeface="Songti SC"/>
                      <a:cs typeface="Song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Data'!$A$2:$A$4</c:f>
              <c:strCache>
                <c:ptCount val="3"/>
                <c:pt idx="0">
                  <c:v>正确性</c:v>
                </c:pt>
                <c:pt idx="1">
                  <c:v>完整性</c:v>
                </c:pt>
                <c:pt idx="2">
                  <c:v>引用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2.6</c:v>
                </c:pt>
                <c:pt idx="1">
                  <c:v>1.95</c:v>
                </c:pt>
                <c:pt idx="2">
                  <c:v>2.616667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735"/>
                  </a:solidFill>
                  <a:latin typeface="Songti SC"/>
                  <a:ea typeface="Songti SC"/>
                  <a:cs typeface="Song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50112"/>
        <c:crossBetween val="between"/>
        <c:majorUnit val="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5B3F0-AA94-4D99-B3E6-7904852D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智能科研助理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FA876-E7D2-48ED-AF12-234E9054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CE3C6-29E4-4760-8E6D-F1926958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17C8E-415C-4ECA-B50E-18385853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75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基于 RAG + Agent 的论文知识库问答系统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3D8E2-78F6-41AA-BF9A-B27EBB38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240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本地论文 → 检索证据 → 工具决策 → 可追溯回答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E1FA9-CBB3-4187-8F09-BFBCF7AC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2026年10月7日 · Windows正式复测与容器离线验收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6BC0E-EC49-4515-8839-ADC5B8BF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80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成员姓名、班级、学号及真实贡献：待填写</a:t>
            </a:r>
          </a:p>
        </p:txBody>
      </p:sp>
    </p:spTree>
    <p:extLst>
      <p:ext uri="{BB962C8B-B14F-4D97-AF65-F5344CB8AC3E}">
        <p14:creationId xmlns:p14="http://schemas.microsoft.com/office/powerpoint/2010/main" val="1233070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DE5C7-5AC8-4B8F-A03F-11A84D38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五个课程模块接入同一应用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B9949-D986-4D57-BEF4-20E34E82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62ED8-80BD-4B51-82D2-C6564207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857750"/>
                <a:gridCol w="3924300"/>
              </a:tblGrid>
              <a:tr h="746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模块</a:t>
                      </a:r>
                    </a:p>
                  </a:txBody>
                  <a:tcPr marL="133350" marR="133350" marT="95250" marB="95250" anchor="ctr"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实现内容</a:t>
                      </a:r>
                    </a:p>
                  </a:txBody>
                  <a:tcPr marL="133350" marR="133350" marT="95250" marB="95250" anchor="ctr"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可核验交付</a:t>
                      </a:r>
                    </a:p>
                  </a:txBody>
                  <a:tcPr marL="133350" marR="133350" marT="95250" marB="95250" anchor="ctr">
                    <a:solidFill>
                      <a:srgbClr val="EAF1E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数据与检索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多格式、三种分块、RRF与BGE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12篇论文、60题、排名记录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生成与缓存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引用、流式、低分确认、语义缓存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正文、来源、实际Token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Agent与记忆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有界ReAct、8工具、路由与恢复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决策轨迹、会话与摘要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集成与前端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Streamlit、Chroma、SQLite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上传、检索、原文、历史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评测与交付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性能对照、质量初评、部署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报告、手册、Word与演示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717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E5664-58EE-4D89-8FD6-48665E1C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业务保持单个Streamlit进程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6A824-10D6-4CF5-8DC5-9B15F93B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C106F-1BC1-4698-9E0E-0B036B82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27560a1ec4869"/>
          <a:stretch xmlns:a="http://schemas.openxmlformats.org/drawingml/2006/main"/>
        </p:blipFill>
        <p:spPr>
          <a:xfrm xmlns:a="http://schemas.openxmlformats.org/drawingml/2006/main">
            <a:off x="3183319" y="1381125"/>
            <a:ext cx="5825363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C6E5E-A72D-4C33-820E-7664CEA5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875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容器入口转发HTTP与WebSocket；应用和模型服务无法直接连接外网</a:t>
            </a:r>
          </a:p>
        </p:txBody>
      </p:sp>
    </p:spTree>
    <p:extLst>
      <p:ext uri="{BB962C8B-B14F-4D97-AF65-F5344CB8AC3E}">
        <p14:creationId xmlns:p14="http://schemas.microsoft.com/office/powerpoint/2010/main" val="1661077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2B873-016C-4682-8D6B-F295CA36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分块质量与返回块数共同影响检索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5AD2A-A190-43A9-B422-1D5DE141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E2561-7243-4624-BE4B-402D05C2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c9d2c3bdb7480a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248400" y="1524000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afd18821bb440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63081-3B1D-40FF-8960-6CC2F147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同12篇论文、60题；五组分块；M3E + 手写RRF Top-20 + BGE</a:t>
            </a:r>
          </a:p>
        </p:txBody>
      </p:sp>
    </p:spTree>
    <p:extLst>
      <p:ext uri="{BB962C8B-B14F-4D97-AF65-F5344CB8AC3E}">
        <p14:creationId xmlns:p14="http://schemas.microsoft.com/office/powerpoint/2010/main" val="1004304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03298-4D1C-4188-8C15-1E4504F5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Windows检索五组配置的实际表现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916F7-1CCA-4290-9E66-AB196744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2656D-556A-4454-A3BC-C7B3A1EA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05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5334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3848e5d2b94276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248400" y="1524000"/>
          <a:ext xmlns:a="http://schemas.openxmlformats.org/drawingml/2006/main" cx="5334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43b5fb13c44b9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BB7FE-D391-4FE5-AAB2-FAE5F45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命中按原文标注页计算；同语言容器样例通过不能替代完整评测</a:t>
            </a:r>
          </a:p>
        </p:txBody>
      </p:sp>
    </p:spTree>
    <p:extLst>
      <p:ext uri="{BB962C8B-B14F-4D97-AF65-F5344CB8AC3E}">
        <p14:creationId xmlns:p14="http://schemas.microsoft.com/office/powerpoint/2010/main" val="1957747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F73E9-C4BF-47B8-9089-E30F92EC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页面返回真实文档块与物理页码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077AD-F03E-4837-8842-BCC10037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E4047-E370-4A48-B38E-6EA2EB72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06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70734151740de"/>
          <a:stretch xmlns:a="http://schemas.openxmlformats.org/drawingml/2006/main"/>
        </p:blipFill>
        <p:spPr>
          <a:xfrm xmlns:a="http://schemas.openxmlformats.org/drawingml/2006/main">
            <a:off x="3990105" y="1362075"/>
            <a:ext cx="4211789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96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04B8C-5FA5-42C2-864D-4614AEBC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Agent公开工具决策与执行结果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44F84-EE96-480F-8146-5648F617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6EEC4-0C88-43A4-94B7-D0E42BEB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07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bad117abe42e3"/>
          <a:stretch xmlns:a="http://schemas.openxmlformats.org/drawingml/2006/main"/>
        </p:blipFill>
        <p:spPr>
          <a:xfrm xmlns:a="http://schemas.openxmlformats.org/drawingml/2006/main">
            <a:off x="2507848" y="1381125"/>
            <a:ext cx="7176304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D6AA2-19A3-4E86-98BC-3FA69E67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80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历史界面示例；每轮决策 → 执行 → 观察，上限8轮</a:t>
            </a:r>
          </a:p>
        </p:txBody>
      </p:sp>
    </p:spTree>
    <p:extLst>
      <p:ext uri="{BB962C8B-B14F-4D97-AF65-F5344CB8AC3E}">
        <p14:creationId xmlns:p14="http://schemas.microsoft.com/office/powerpoint/2010/main" val="968684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72A44-C020-4118-8F5A-BC7870E3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路由质量与Token成本分别计算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25DDE-A321-4B98-80D8-B546504D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E668A-DE85-44DD-8143-307644A4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40b422f89b4328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248400" y="1524000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1440fef30e4d3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E17A2-F3EC-456A-9B63-AB95B3D8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875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本轮Agent Token增加531.55%；自报完成与工具成功不等于答案正确</a:t>
            </a:r>
          </a:p>
        </p:txBody>
      </p:sp>
    </p:spTree>
    <p:extLst>
      <p:ext uri="{BB962C8B-B14F-4D97-AF65-F5344CB8AC3E}">
        <p14:creationId xmlns:p14="http://schemas.microsoft.com/office/powerpoint/2010/main" val="12106427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8B544-C77A-41B3-A993-FDDE8852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并行实验保留失败与调度差异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B4B35-EBAF-4749-88B2-F0F281FF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BD983-CA74-42A3-A3C8-BD63AB18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09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1bdfbead074dde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248400" y="1524000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bad0d82f794d9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ED09F-53D3-40CD-BD2F-D7D5D706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B9043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BB9043"/>
                </a:solidFill>
                <a:latin typeface="Songti SC"/>
                <a:ea typeface="Songti SC"/>
                <a:cs typeface="Songti SC"/>
              </a:rPr>
              <a:t>知识库组合下降18.76%；时间／关键词增加2.50%；每组仅3对</a:t>
            </a:r>
          </a:p>
        </p:txBody>
      </p:sp>
    </p:spTree>
    <p:extLst>
      <p:ext uri="{BB962C8B-B14F-4D97-AF65-F5344CB8AC3E}">
        <p14:creationId xmlns:p14="http://schemas.microsoft.com/office/powerpoint/2010/main" val="1375912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1A3B2-67D6-4588-AB4A-003E750D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缓存和记忆均有明确失效条件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EB306-1632-46A8-9273-3E0F9163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1506C-C267-4033-8194-2A9A639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743A5-F999-45D2-846A-77BE17F0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语义缓存：相似度阈值0.97；仅保存正常、有来源、无警告结果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6DA74-B0A3-49D0-9661-E618D06D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命中跳过RAG内部检索与生成；其余Agent阶段仍可能消耗Token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62B3C-F0A8-478B-9111-415F6439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记忆：2000Token滑动窗口；10轮触发摘要，保留最近4轮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B0CD0-32B7-44F1-8811-122ACBDD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B9043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BB9043"/>
                </a:solidFill>
                <a:latin typeface="Songti SC"/>
                <a:ea typeface="Songti SC"/>
                <a:cs typeface="Songti SC"/>
              </a:rPr>
              <a:t>语料、配置与会话变化使旧缓存失效；摘要存在信息损失</a:t>
            </a:r>
          </a:p>
        </p:txBody>
      </p:sp>
    </p:spTree>
    <p:extLst>
      <p:ext uri="{BB962C8B-B14F-4D97-AF65-F5344CB8AC3E}">
        <p14:creationId xmlns:p14="http://schemas.microsoft.com/office/powerpoint/2010/main" val="3863685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7A93D-670C-4382-8458-C37A9B6D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Windows故障路径已做实际注入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17060-F220-447C-BA03-8E086396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15C1D-925B-4A4C-A753-A7AAB0A9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667250"/>
                <a:gridCol w="3162300"/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故障</a:t>
                      </a:r>
                    </a:p>
                  </a:txBody>
                  <a:tcPr marL="133350" marR="133350" marT="95250" marB="95250" anchor="ctr"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验证方式</a:t>
                      </a:r>
                    </a:p>
                  </a:txBody>
                  <a:tcPr marL="133350" marR="133350" marT="95250" marB="95250" anchor="ctr"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观察结果</a:t>
                      </a:r>
                    </a:p>
                  </a:txBody>
                  <a:tcPr marL="133350" marR="133350" marT="95250" marB="95250" anchor="ctr">
                    <a:solidFill>
                      <a:srgbClr val="EAF1E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模型服务断开与恢复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真实连接拒绝；恢复Qwen算术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错误明确；9×8=72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流式中途断开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真实NDJSON连接中止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保留部分正文，标记错误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超时与线程额度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真实HTTP延迟；最多1工作线程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超时后拒绝新增，退出释放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独立调用失败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HTTP503与版本查询同批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失败与成功分别保留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执行失败与重试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失败替代、一次重试、耗尽替代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有界恢复，不假报完成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79CBD-1F7A-459F-891B-3EED8D07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9043"/>
                </a:solidFill>
                <a:latin typeface="Songti SC"/>
                <a:ea typeface="Songti SC"/>
                <a:cs typeface="Songti SC"/>
              </a:defRPr>
            </a:pPr>
            <a:r>
              <a:rPr sz="1800" b="0">
                <a:solidFill>
                  <a:srgbClr val="BB9043"/>
                </a:solidFill>
                <a:latin typeface="Songti SC"/>
                <a:ea typeface="Songti SC"/>
                <a:cs typeface="Songti SC"/>
              </a:rPr>
              <a:t>已运行的同步线程无法强杀；晚到工作退出后才释放额度</a:t>
            </a:r>
          </a:p>
        </p:txBody>
      </p:sp>
    </p:spTree>
    <p:extLst>
      <p:ext uri="{BB962C8B-B14F-4D97-AF65-F5344CB8AC3E}">
        <p14:creationId xmlns:p14="http://schemas.microsoft.com/office/powerpoint/2010/main" val="1438737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0D0B0-06B2-42B7-A056-A85A5435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助手初评与用户审核分别记录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D0F66-8A13-4CD6-8479-A2E8E3BD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B100B-EA19-4524-93F7-F3006C89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12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5334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07a3b378f94814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248400" y="1619250"/>
          <a:ext xmlns:a="http://schemas.openxmlformats.org/drawingml/2006/main" cx="5334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514901889343c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92196-64D8-46D4-B54A-7B48D28A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120条助手初评；用户审核0/120；历史180条另存，未混合统计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2D2BF-7ABB-426B-8070-DA1F41AA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80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三项均按0～4分；引用有效不等于回答正确；空白与0分严格区分</a:t>
            </a:r>
          </a:p>
        </p:txBody>
      </p:sp>
    </p:spTree>
    <p:extLst>
      <p:ext uri="{BB962C8B-B14F-4D97-AF65-F5344CB8AC3E}">
        <p14:creationId xmlns:p14="http://schemas.microsoft.com/office/powerpoint/2010/main" val="4718030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59871-9D22-45AE-864E-B85CE842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最终镜像通过离线业务与重开验证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FAC32-2506-4F67-A169-8B2B0C20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CC0A0-43DE-41A2-899B-77CF5A1B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项目</a:t>
                      </a:r>
                    </a:p>
                  </a:txBody>
                  <a:tcPr marL="133350" marR="133350" marT="95250" marB="95250" anchor="ctr"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真实验证结果</a:t>
                      </a:r>
                    </a:p>
                  </a:txBody>
                  <a:tcPr marL="133350" marR="133350" marT="95250" marB="95250" anchor="ctr">
                    <a:solidFill>
                      <a:srgbClr val="EAF1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环境与依赖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Python3.10.10；pip check通过；SQLite兼容修复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外网隔离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应用与Ollama的1.1.1.1:443连接均不可达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论文与检索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ViT独立167块；混合BGE重排；物理原文页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Agent与持久化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真实工具回答与引用；重启后索引和会话一致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页面入口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735"/>
                          </a:solidFill>
                          <a:latin typeface="Songti SC"/>
                          <a:ea typeface="Songti SC"/>
                          <a:cs typeface="Songti SC"/>
                        </a:rPr>
                        <a:t>本机8502验收；发布配置8501；HTTP/WebSocket正常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A8597-34CA-4FD8-B2E7-449FD2B8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80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镜像和模型提前准备；容器CPU结果与Windows原生GPU性能分开记录</a:t>
            </a:r>
          </a:p>
        </p:txBody>
      </p:sp>
    </p:spTree>
    <p:extLst>
      <p:ext uri="{BB962C8B-B14F-4D97-AF65-F5344CB8AC3E}">
        <p14:creationId xmlns:p14="http://schemas.microsoft.com/office/powerpoint/2010/main" val="10116049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23024-3DB5-4F89-8581-88C14687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交付证据与尚待人工完成的事项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C310A-1F1A-41A2-8790-B80259E0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96A74"/>
                </a:solidFill>
                <a:latin typeface="Songti SC"/>
                <a:ea typeface="Songti SC"/>
                <a:cs typeface="Songti SC"/>
              </a:rPr>
              <a:t>智能科研助理 · 课程实践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5939C-7CAE-4E03-808C-7E0F8E0A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F790A-74F4-4D50-A667-8375165B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240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代码与提交历史、配置和环境说明、部署修复与失败记录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2B850-83A8-4E5A-97AA-4DAF6CE3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240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逐题结果、模型实际用量、独立复算、图表、Bad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163CD-46DF-4715-95D7-506140F0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735"/>
                </a:solidFill>
                <a:latin typeface="Songti SC"/>
                <a:ea typeface="Songti SC"/>
                <a:cs typeface="Songti SC"/>
              </a:defRPr>
            </a:pPr>
            <a:r>
              <a:rPr sz="2400" b="0">
                <a:solidFill>
                  <a:srgbClr val="142735"/>
                </a:solidFill>
                <a:latin typeface="Songti SC"/>
                <a:ea typeface="Songti SC"/>
                <a:cs typeface="Songti SC"/>
              </a:rPr>
              <a:t>课程Word、可编辑演示、技术设计与操作手册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05BB0-B26A-4436-A302-D4D4558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B9043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BB9043"/>
                </a:solidFill>
                <a:latin typeface="Songti SC"/>
                <a:ea typeface="Songti SC"/>
                <a:cs typeface="Songti SC"/>
              </a:rPr>
              <a:t>待成员真实资料、贡献比例与用户质量审核；跨语言排名暂缓</a:t>
            </a:r>
          </a:p>
        </p:txBody>
      </p:sp>
    </p:spTree>
    <p:extLst>
      <p:ext uri="{BB962C8B-B14F-4D97-AF65-F5344CB8AC3E}">
        <p14:creationId xmlns:p14="http://schemas.microsoft.com/office/powerpoint/2010/main" val="258830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2026-10-07T11:36:50.7940000Z</dcterms:created>
  <dcterms:modified xsi:type="dcterms:W3CDTF">2026-10-07T11:36:50.7940000Z</dcterms:modified>
</coreProperties>
</file>